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24D"/>
                </a:solidFill>
                <a:latin typeface="Aptos Display"/>
              </a:defRPr>
            </a:pPr>
            <a:r>
              <a:t>E-Commerce Customer Retention &amp; 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563"/>
                </a:solidFill>
                <a:latin typeface="Aptos"/>
              </a:defRPr>
            </a:pPr>
            <a:r>
              <a:t>Customer growth, repeat purchasing, segmentation and customer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63240"/>
            <a:ext cx="219456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3172968"/>
            <a:ext cx="18653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699A"/>
                </a:solidFill>
                <a:latin typeface="Aptos"/>
              </a:defRPr>
            </a:pPr>
            <a:r>
              <a:t>13.2M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557016"/>
            <a:ext cx="18653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Merchandise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3063240"/>
            <a:ext cx="201168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317296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D423C"/>
                </a:solidFill>
                <a:latin typeface="Aptos"/>
              </a:defRPr>
            </a:pPr>
            <a:r>
              <a:t>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3557016"/>
            <a:ext cx="168249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Repeat purchase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60520"/>
            <a:ext cx="219456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270248"/>
            <a:ext cx="18653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D423C"/>
                </a:solidFill>
                <a:latin typeface="Aptos"/>
              </a:defRPr>
            </a:pPr>
            <a:r>
              <a:t>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654296"/>
            <a:ext cx="18653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M1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4160520"/>
            <a:ext cx="201168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427024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7E27"/>
                </a:solidFill>
                <a:latin typeface="Aptos"/>
              </a:defRPr>
            </a:pPr>
            <a:r>
              <a:t>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4654296"/>
            <a:ext cx="168249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Late-delivery rate</a:t>
            </a:r>
          </a:p>
        </p:txBody>
      </p:sp>
      <p:pic>
        <p:nvPicPr>
          <p:cNvPr id="17" name="Picture 16" descr="03_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97280"/>
            <a:ext cx="4572000" cy="264055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223760" y="4800600"/>
            <a:ext cx="38862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4910328"/>
            <a:ext cx="3557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Portfolio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5193792"/>
            <a:ext cx="355701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End-to-end customer analytics: data quality, revenue diagnostics, cohort retention, RFM segmentation and operational impact.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3"/>
                </a:solidFill>
                <a:latin typeface="Aptos"/>
              </a:defRPr>
            </a:pPr>
            <a:r>
              <a:t>The dataset shows strong acquisition, but weak repeat buying and measurable operational impact on reviews.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24028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911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699A"/>
                </a:solidFill>
                <a:latin typeface="Aptos"/>
              </a:defRPr>
            </a:pPr>
            <a:r>
              <a:t>97.1%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11095"/>
            <a:ext cx="191109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Revenue from first purchases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17320"/>
            <a:ext cx="224028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527048"/>
            <a:ext cx="1911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D423C"/>
                </a:solidFill>
                <a:latin typeface="Aptos"/>
              </a:defRPr>
            </a:pPr>
            <a:r>
              <a:t>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911095"/>
            <a:ext cx="191109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Returning-purchase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417320"/>
            <a:ext cx="192024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88152" y="1527048"/>
            <a:ext cx="15910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D423C"/>
                </a:solidFill>
                <a:latin typeface="Aptos"/>
              </a:defRPr>
            </a:pPr>
            <a:r>
              <a:t>3.0%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911095"/>
            <a:ext cx="159105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Repeat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417320"/>
            <a:ext cx="242316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1527048"/>
            <a:ext cx="2093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7E27"/>
                </a:solidFill>
                <a:latin typeface="Aptos"/>
              </a:defRPr>
            </a:pPr>
            <a:r>
              <a:t>4.29 → 2.27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1911095"/>
            <a:ext cx="20939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Review score when 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517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4A5563"/>
                </a:solidFill>
                <a:latin typeface="Aptos"/>
              </a:defRPr>
            </a:pPr>
            <a:r>
              <a:t>• Revenue is acquisition-heavy: first purchases generate 97.1% of merchandise revenue, while returning purchases contribute only 2.9%.</a:t>
            </a:r>
          </a:p>
          <a:p>
            <a:pPr>
              <a:spcAft>
                <a:spcPts val="800"/>
              </a:spcAft>
              <a:defRPr sz="1250">
                <a:solidFill>
                  <a:srgbClr val="4A5563"/>
                </a:solidFill>
                <a:latin typeface="Aptos"/>
              </a:defRPr>
            </a:pPr>
            <a:r>
              <a:t>• Repeat buying is low: 3.0% of customers made more than one delivered purchase, and censored-adjusted M1 retention is 5.0%.</a:t>
            </a:r>
          </a:p>
          <a:p>
            <a:pPr>
              <a:spcAft>
                <a:spcPts val="800"/>
              </a:spcAft>
              <a:defRPr sz="1250">
                <a:solidFill>
                  <a:srgbClr val="4A5563"/>
                </a:solidFill>
                <a:latin typeface="Aptos"/>
              </a:defRPr>
            </a:pPr>
            <a:r>
              <a:t>• The highest-revenue month was November 2017 with 987,765 in merchandise revenue.</a:t>
            </a:r>
          </a:p>
          <a:p>
            <a:pPr>
              <a:spcAft>
                <a:spcPts val="800"/>
              </a:spcAft>
              <a:defRPr sz="1250">
                <a:solidFill>
                  <a:srgbClr val="4A5563"/>
                </a:solidFill>
                <a:latin typeface="Aptos"/>
              </a:defRPr>
            </a:pPr>
            <a:r>
              <a:t>• Average review score falls from 4.29 for on-time/early deliveries to 2.27 for late deliveries.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788920"/>
            <a:ext cx="42976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AD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2898648"/>
            <a:ext cx="3968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Primary business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182112"/>
            <a:ext cx="3968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Customer acquisition generates almost all revenue, but very few customers return. Retention should become a recurring management KPI.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251960"/>
            <a:ext cx="42976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49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4361688"/>
            <a:ext cx="3968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Management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4645152"/>
            <a:ext cx="3968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Growth should be separated into active-customer volume, purchase frequency and average order value rather than assessed from total revenue alone.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 Display"/>
              </a:defRPr>
            </a:pPr>
            <a:r>
              <a:t>Revenue Growth Is Primarily Acquisition-Led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3"/>
                </a:solidFill>
                <a:latin typeface="Aptos"/>
              </a:defRPr>
            </a:pPr>
            <a:r>
              <a:t>The strongest revenue month was driven by customer volume while purchase frequency remained structurally low.</a:t>
            </a:r>
          </a:p>
        </p:txBody>
      </p:sp>
      <p:pic>
        <p:nvPicPr>
          <p:cNvPr id="5" name="Picture 4" descr="01_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492240" cy="2667213"/>
          </a:xfrm>
          <a:prstGeom prst="rect">
            <a:avLst/>
          </a:prstGeom>
        </p:spPr>
      </p:pic>
      <p:pic>
        <p:nvPicPr>
          <p:cNvPr id="6" name="Picture 5" descr="07_revenue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6492240" cy="26697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417320"/>
            <a:ext cx="34747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4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1527048"/>
            <a:ext cx="3145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Peak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1810512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November 2017 reached 988k in merchandise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514600"/>
            <a:ext cx="34747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34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2624328"/>
            <a:ext cx="3145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2907792"/>
            <a:ext cx="3145536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Revenue expansion should be separated into active-customer growth, order frequency and average order value. This prevents acquisition-led growth from being mistaken for stronger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160520"/>
            <a:ext cx="347472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49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4270248"/>
            <a:ext cx="3145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Management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4553712"/>
            <a:ext cx="3145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Track returning-customer revenue share alongside total revenue each month.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 Display"/>
              </a:defRPr>
            </a:pPr>
            <a:r>
              <a:t>Cohort Retention Drops Immediately After First Purchase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3"/>
                </a:solidFill>
                <a:latin typeface="Aptos"/>
              </a:defRPr>
            </a:pPr>
            <a:r>
              <a:t>Incomplete cohort months are censored rather than treated as zero retention.</a:t>
            </a:r>
          </a:p>
        </p:txBody>
      </p:sp>
      <p:pic>
        <p:nvPicPr>
          <p:cNvPr id="5" name="Picture 4" descr="03_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949440" cy="4013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417320"/>
            <a:ext cx="283464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82712" y="1527048"/>
            <a:ext cx="2505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D423C"/>
                </a:solidFill>
                <a:latin typeface="Aptos"/>
              </a:defRPr>
            </a:pPr>
            <a:r>
              <a:t>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1911095"/>
            <a:ext cx="250545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Censored-adjusted M1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468880"/>
            <a:ext cx="283464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2578608"/>
            <a:ext cx="2505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D423C"/>
                </a:solidFill>
                <a:latin typeface="Aptos"/>
              </a:defRPr>
            </a:pPr>
            <a:r>
              <a:t>3.0%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962656"/>
            <a:ext cx="250545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Repeat purchase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657600"/>
            <a:ext cx="333756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AD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767328"/>
            <a:ext cx="3008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050791"/>
            <a:ext cx="3008376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Very few acquired customers convert into a second purchase. This is a retention and activation issue, not only an acquisition issue.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983480"/>
            <a:ext cx="333756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49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5093208"/>
            <a:ext cx="3008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5376672"/>
            <a:ext cx="3008376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Build first-to-second-purchase campaigns by category, purchase timing and customer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 Display"/>
              </a:defRPr>
            </a:pPr>
            <a:r>
              <a:t>Customer Segmentation Separates Value from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3"/>
                </a:solidFill>
                <a:latin typeface="Aptos"/>
              </a:defRPr>
            </a:pPr>
            <a:r>
              <a:t>Frequency scoring uses actual repeat behavior so one-time buyers are not automatically treated as mid-frequency customers.</a:t>
            </a:r>
          </a:p>
        </p:txBody>
      </p:sp>
      <p:pic>
        <p:nvPicPr>
          <p:cNvPr id="5" name="Picture 4" descr="04_rfm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400800" cy="31841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508760"/>
            <a:ext cx="333756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8392" y="1618488"/>
            <a:ext cx="30083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699A"/>
                </a:solidFill>
                <a:latin typeface="Aptos"/>
              </a:defRPr>
            </a:pPr>
            <a:r>
              <a:t>High-Value New Buyers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392" y="2002536"/>
            <a:ext cx="30083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Top revenue 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606040"/>
            <a:ext cx="333756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2715768"/>
            <a:ext cx="30083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699A"/>
                </a:solidFill>
                <a:latin typeface="Aptos"/>
              </a:defRPr>
            </a:pPr>
            <a:r>
              <a:t>29.2%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3099816"/>
            <a:ext cx="30083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Share of customer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749039"/>
            <a:ext cx="36118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858768"/>
            <a:ext cx="32826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Segmentation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4142231"/>
            <a:ext cx="328269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One order = low frequency; two orders = mid frequency; three or more orders = high frequency.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937760"/>
            <a:ext cx="36118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49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5047488"/>
            <a:ext cx="32826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5330952"/>
            <a:ext cx="328269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Prioritize high-value new buyers and repeat buyers at risk before broad low-value reactivation.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 Display"/>
              </a:defRPr>
            </a:pPr>
            <a:r>
              <a:t>Category and Region Performance Identify Where to Prioritize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3"/>
                </a:solidFill>
                <a:latin typeface="Aptos"/>
              </a:defRPr>
            </a:pPr>
            <a:r>
              <a:t>Revenue concentration and delivery performance vary materially by product category and geography.</a:t>
            </a:r>
          </a:p>
        </p:txBody>
      </p:sp>
      <p:pic>
        <p:nvPicPr>
          <p:cNvPr id="5" name="Picture 4" descr="05_top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257800" cy="3680163"/>
          </a:xfrm>
          <a:prstGeom prst="rect">
            <a:avLst/>
          </a:prstGeom>
        </p:spPr>
      </p:pic>
      <p:pic>
        <p:nvPicPr>
          <p:cNvPr id="6" name="Picture 5" descr="08_top_states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5120640" cy="31747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486400"/>
            <a:ext cx="48006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34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5596128"/>
            <a:ext cx="44714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Largest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879592"/>
            <a:ext cx="4471416" cy="1554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health_beauty leads revenue with 1.2M.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486400"/>
            <a:ext cx="48006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B27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5596128"/>
            <a:ext cx="44714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Largest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5879592"/>
            <a:ext cx="4471416" cy="1554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SP leads revenue with 5.1M; late-delivery rate is 4.5%.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 Display"/>
              </a:defRPr>
            </a:pPr>
            <a:r>
              <a:t>Late Delivery Is a Measurable Customer-Experience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3"/>
                </a:solidFill>
                <a:latin typeface="Aptos"/>
              </a:defRPr>
            </a:pPr>
            <a:r>
              <a:t>Operational delays correlate with a material drop in customer review scores.</a:t>
            </a:r>
          </a:p>
        </p:txBody>
      </p:sp>
      <p:pic>
        <p:nvPicPr>
          <p:cNvPr id="5" name="Picture 4" descr="06_delivery_vs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4846320" cy="343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554480"/>
            <a:ext cx="224028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64207"/>
            <a:ext cx="1911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97C5B"/>
                </a:solidFill>
                <a:latin typeface="Aptos"/>
              </a:defRPr>
            </a:pPr>
            <a:r>
              <a:t>4.29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2048256"/>
            <a:ext cx="191109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On-time / early review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24028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1664207"/>
            <a:ext cx="1911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D423C"/>
                </a:solidFill>
                <a:latin typeface="Aptos"/>
              </a:defRPr>
            </a:pPr>
            <a:r>
              <a:t>2.27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2048256"/>
            <a:ext cx="191109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Late-delivery review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97480"/>
            <a:ext cx="2240280" cy="8686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807208"/>
            <a:ext cx="1911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7E27"/>
                </a:solidFill>
                <a:latin typeface="Aptos"/>
              </a:defRPr>
            </a:pPr>
            <a:r>
              <a:t>6.7%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191256"/>
            <a:ext cx="191109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3"/>
                </a:solidFill>
                <a:latin typeface="Aptos"/>
              </a:defRPr>
            </a:pPr>
            <a:r>
              <a:t>Late-delivery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49039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4A5563"/>
                </a:solidFill>
                <a:latin typeface="Aptos"/>
              </a:defRPr>
            </a:pPr>
            <a:r>
              <a:t>• Late orders should trigger proactive service recovery before the review is submitted.</a:t>
            </a:r>
          </a:p>
          <a:p>
            <a:pPr>
              <a:spcAft>
                <a:spcPts val="800"/>
              </a:spcAft>
              <a:defRPr sz="1250">
                <a:solidFill>
                  <a:srgbClr val="4A5563"/>
                </a:solidFill>
                <a:latin typeface="Aptos"/>
              </a:defRPr>
            </a:pPr>
            <a:r>
              <a:t>• Regions with high revenue and high delay rates deserve separate operational review.</a:t>
            </a:r>
          </a:p>
          <a:p>
            <a:pPr>
              <a:spcAft>
                <a:spcPts val="800"/>
              </a:spcAft>
              <a:defRPr sz="1250">
                <a:solidFill>
                  <a:srgbClr val="4A5563"/>
                </a:solidFill>
                <a:latin typeface="Aptos"/>
              </a:defRPr>
            </a:pPr>
            <a:r>
              <a:t>• Delivery reliability should be tracked as a retention lever, not only as a logistics metric.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 Display"/>
              </a:defRPr>
            </a:pPr>
            <a:r>
              <a:t>Recommended Management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3"/>
                </a:solidFill>
                <a:latin typeface="Aptos"/>
              </a:defRPr>
            </a:pPr>
            <a:r>
              <a:t>The next step is a repeatable retention reporting process rather than another one-off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69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0759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  <a:latin typeface="Aptos"/>
              </a:defRPr>
            </a:pPr>
            <a:r>
              <a:t>Prioritize first-to-second-purchase conversion after the initial order instead of relying only on continued acquisition.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69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7627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  <a:latin typeface="Aptos"/>
              </a:defRPr>
            </a:pPr>
            <a:r>
              <a:t>Track M1/M2 cohort retention, repeat purchase rate and returning-customer revenue share as recurring management KPIs.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3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69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44951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  <a:latin typeface="Aptos"/>
              </a:defRPr>
            </a:pPr>
            <a:r>
              <a:t>Target high-value new buyers and repeat buyers at risk before running broad reactivation campaigns.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699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1363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  <a:latin typeface="Aptos"/>
              </a:defRPr>
            </a:pPr>
            <a:r>
              <a:t>Investigate categories and regions with high acquisition volume but weak repeat purchasing.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699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78231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  <a:latin typeface="Aptos"/>
              </a:defRPr>
            </a:pPr>
            <a:r>
              <a:t>Treat late delivery as a retention risk and trigger proactive service recovery for delayed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2971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34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527048"/>
            <a:ext cx="2642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Suggested recurring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810512"/>
            <a:ext cx="264261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Monthly revenue, active customers, repeat purchase rate, M1/M2 retention, returning-customer revenue share, RFM segment revenue and delivery/review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246120"/>
            <a:ext cx="2971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34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3355848"/>
            <a:ext cx="2642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Portfolio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3639312"/>
            <a:ext cx="26426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Jupyter notebook, Excel management workbook, reusable analysis pipeline and client-ready presentation.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709160"/>
            <a:ext cx="2971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49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4818888"/>
            <a:ext cx="2642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5102352"/>
            <a:ext cx="26426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A5563"/>
                </a:solidFill>
                <a:latin typeface="Aptos"/>
              </a:defRPr>
            </a:pPr>
            <a:r>
              <a:t>Transaction data is translated into decisions about acquisition quality, retention priorities and operational risk.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3"/>
                </a:solidFill>
                <a:latin typeface="Aptos"/>
              </a:defRPr>
            </a:pPr>
            <a:r>
              <a:t>Olist Brazilian E-Commerce public dataset | Portfolio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4A556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